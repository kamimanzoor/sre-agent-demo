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Azure SRE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CCEE"/>
                </a:solidFill>
                <a:latin typeface="Segoe UI"/>
              </a:defRPr>
            </a:pPr>
            <a:r>
              <a:t>Your AI-Powered Operations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AADD"/>
                </a:solidFill>
                <a:latin typeface="Segoe UI"/>
              </a:defRPr>
            </a:pPr>
            <a:r>
              <a:t>MVP Lab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99CC"/>
                </a:solidFill>
                <a:latin typeface="Segoe UI"/>
              </a:defRPr>
            </a:pPr>
            <a:r>
              <a:t>sre.azure.com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Operations teams are drowning in toil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822960"/>
          </a:xfrm>
          <a:prstGeom prst="round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3333"/>
                </a:solidFill>
                <a:latin typeface="Segoe UI"/>
              </a:defRPr>
            </a:pPr>
            <a:r>
              <a:t>2am alerts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B6B6B"/>
                </a:solidFill>
                <a:latin typeface="Segoe UI"/>
              </a:defRPr>
            </a:pPr>
            <a:r>
              <a:t>Manual runbook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6B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2743200" cy="82296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MTTR measured in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200400" cy="822960"/>
          </a:xfrm>
          <a:prstGeom prst="round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3333"/>
                </a:solidFill>
                <a:latin typeface="Segoe UI"/>
              </a:defRPr>
            </a:pPr>
            <a:r>
              <a:t>5+ tool context-switching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B6B6B"/>
                </a:solidFill>
                <a:latin typeface="Segoe UI"/>
              </a:defRPr>
            </a:pPr>
            <a:r>
              <a:t>During every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97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6B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560320"/>
            <a:ext cx="2743200" cy="82296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Engineer burnout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200400" cy="822960"/>
          </a:xfrm>
          <a:prstGeom prst="round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3333"/>
                </a:solidFill>
                <a:latin typeface="Segoe UI"/>
              </a:defRPr>
            </a:pPr>
            <a:r>
              <a:t>Same steps every time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B6B6B"/>
                </a:solidFill>
                <a:latin typeface="Segoe UI"/>
              </a:defRPr>
            </a:pPr>
            <a:r>
              <a:t>Knowledge locked in individuals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6B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657600"/>
            <a:ext cx="2743200" cy="82296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Error-prone at 3am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79"/>
            <a:ext cx="3200400" cy="822960"/>
          </a:xfrm>
          <a:prstGeom prst="round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3333"/>
                </a:solidFill>
                <a:latin typeface="Segoe UI"/>
              </a:defRPr>
            </a:pPr>
            <a:r>
              <a:t>Triage backlogs growing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B6B6B"/>
                </a:solidFill>
                <a:latin typeface="Segoe UI"/>
              </a:defRPr>
            </a:pPr>
            <a:r>
              <a:t>Tickets piling up daily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6B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754879"/>
            <a:ext cx="2743200" cy="82296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Customer satisfaction drops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"/>
              </a:defRPr>
            </a:pPr>
            <a:r>
              <a:t>"80% of incident response is gathering data. 20% is deciding what to do."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760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What if AI handled the 80%?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sre.azure.com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Azure SRE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Segoe UI"/>
              </a:defRPr>
            </a:pPr>
            <a:r>
              <a:t>Your AI teammate that learns and grows with your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78D4"/>
                </a:solidFill>
                <a:latin typeface="Segoe UI"/>
              </a:defRPr>
            </a:pPr>
            <a:r>
              <a:t>1. Connect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Azure resources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Incident platforms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Any API via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7C10"/>
                </a:solidFill>
                <a:latin typeface="Segoe UI"/>
              </a:defRPr>
            </a:pPr>
            <a:r>
              <a:t>2. Enhance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Your runbooks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Your architecture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Domain subagents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004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Segoe UI"/>
              </a:defRPr>
            </a:pPr>
            <a:r>
              <a:t>3. Achieve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Faster investigations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Automated triage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• Reliable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800"/>
              </a:spcBef>
              <a:defRPr sz="1500" b="0">
                <a:solidFill>
                  <a:srgbClr val="0B1D3A"/>
                </a:solidFill>
                <a:latin typeface="Segoe UI"/>
              </a:defRPr>
            </a:pPr>
            <a:r>
              <a:t>✓  Not a chatbot — an autonomous agent that takes action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0B1D3A"/>
                </a:solidFill>
                <a:latin typeface="Segoe UI"/>
              </a:defRPr>
            </a:pPr>
            <a:r>
              <a:t>✓  Not generic AI — uses YOUR runbooks, YOUR data, YOUR procedures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0B1D3A"/>
                </a:solidFill>
                <a:latin typeface="Segoe UI"/>
              </a:defRPr>
            </a:pPr>
            <a:r>
              <a:t>✓  Not locked-in — connects to any tool via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sre.azure.com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Four Superpowers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1A"/>
                </a:solidFill>
                <a:latin typeface="Segoe UI"/>
              </a:defRPr>
            </a:pPr>
            <a:r>
              <a:t>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Segoe UI"/>
              </a:defRPr>
            </a:pPr>
            <a:r>
              <a:t>Autonomous</a:t>
            </a:r>
            <a:br/>
            <a:r>
              <a:t>Incident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Segoe UI"/>
              </a:defRPr>
            </a:pPr>
            <a:r>
              <a:t>Alert → investigate → remediate</a:t>
            </a:r>
            <a:br/>
            <a:r>
              <a:t>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0040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Lower MTTR</a:t>
            </a:r>
            <a:br/>
            <a:r>
              <a:t>from hours to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1A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Segoe UI"/>
              </a:defRPr>
            </a:pPr>
            <a:r>
              <a:t>Lightning-Fast</a:t>
            </a:r>
            <a:br/>
            <a:r>
              <a:t>Root Cause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606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Segoe UI"/>
              </a:defRPr>
            </a:pPr>
            <a:r>
              <a:t>Correlate logs + metrics +</a:t>
            </a:r>
            <a:br/>
            <a:r>
              <a:t>traces + code + deploys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606040"/>
            <a:ext cx="320040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Actionable insights</a:t>
            </a:r>
            <a:br/>
            <a:r>
              <a:t>not data dumps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1A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Segoe UI"/>
              </a:defRPr>
            </a:pPr>
            <a:r>
              <a:t>Extensible</a:t>
            </a:r>
            <a:br/>
            <a:r>
              <a:t>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8404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Segoe UI"/>
              </a:defRPr>
            </a:pPr>
            <a:r>
              <a:t>Connect any tool via MCP</a:t>
            </a:r>
            <a:br/>
            <a:r>
              <a:t>Schedule recurring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20040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Eliminate toil</a:t>
            </a:r>
            <a:br/>
            <a:r>
              <a:t>free up engineers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1A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074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Segoe UI"/>
              </a:defRPr>
            </a:pPr>
            <a:r>
              <a:t>Conversational</a:t>
            </a:r>
            <a:br/>
            <a: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074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Segoe UI"/>
              </a:defRPr>
            </a:pPr>
            <a:r>
              <a:t>Natural language + Python</a:t>
            </a:r>
            <a:br/>
            <a:r>
              <a:t>Ask questions, get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074920"/>
            <a:ext cx="320040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Anyone can investigate</a:t>
            </a:r>
            <a:br/>
            <a:r>
              <a:t>not just experts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sre.azure.com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Today's Lab: Three Personas, Three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4754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IT Operations / SRE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"Stop running runbooks at 3am"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Alert fires → agent auto-investigates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Queries logs, checks metrics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Applies remediation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Creates GitHub issue with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54880"/>
            <a:ext cx="310896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You wake up to results,</a:t>
            </a:r>
            <a:br/>
            <a:r>
              <a:t>not raw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474720" cy="4754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1463040"/>
            <a:ext cx="457200" cy="45720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"From what happened to why and how to fix it"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Same investigation + source code search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Finds exact file:line causing the issue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Creates richer issue with code fix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Compare two GitHub issues — see the delta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754880"/>
            <a:ext cx="310896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Root cause with code references</a:t>
            </a:r>
            <a:br/>
            <a:r>
              <a:t>not just log excerpts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474720" cy="4754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46304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Workflow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"Triage isn't the job, it's the tax"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Triages GitHub issues: classify, label, comment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Follows your triage runbook exactly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Runs on schedule — every 12 hours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Segoe UI"/>
              </a:defRPr>
            </a:pPr>
            <a:r>
              <a:t>• No manual ticket sorting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754880"/>
            <a:ext cx="310896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Stop sorting tickets.</a:t>
            </a:r>
            <a:br/>
            <a:r>
              <a:t>Start shipping.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sre.azure.com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One Command. Everything Configured.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3657600" cy="640080"/>
          </a:xfrm>
          <a:prstGeom prst="round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50E650"/>
                </a:solidFill>
                <a:latin typeface="Consolas"/>
              </a:defRPr>
            </a:pPr>
            <a:r>
              <a:t>azd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0078D4"/>
                </a:solidFill>
                <a:latin typeface="Segoe UI"/>
              </a:defRPr>
            </a:pPr>
            <a:r>
              <a:t>Infrastructure (Bicep)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  ✓  Grubify app (frontend + API)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  ✓  Azure SRE Agent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  ✓  Azure Monitor alert rules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  ✓  Managed Identity +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07C10"/>
                </a:solidFill>
                <a:latin typeface="Segoe UI"/>
              </a:defRPr>
            </a:pPr>
            <a:r>
              <a:t>Agent Config (REST API)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  ✓  Knowledge base (2 runbooks)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  ✓  3 specialized subagents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  ✓  GitHub MCP connector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1A1A1A"/>
                </a:solidFill>
                <a:latin typeface="Segoe UI"/>
              </a:defRPr>
            </a:pPr>
            <a:r>
              <a:t>  ✓  Scheduled triage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Segoe UI"/>
              </a:defRPr>
            </a:pPr>
            <a:r>
              <a:t>Then you'll: chat with the agent → break the app → watch it investigate → compare log-only vs code-aware analysis → see automated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sre.azure.com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The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4572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3333"/>
                </a:solidFill>
                <a:latin typeface="Segoe UI"/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1400"/>
              </a:spcBef>
              <a:defRPr sz="1500" b="0">
                <a:solidFill>
                  <a:srgbClr val="883333"/>
                </a:solidFill>
                <a:latin typeface="Segoe UI"/>
              </a:defRPr>
            </a:pPr>
            <a:r>
              <a:t>✗  2 hours every morning sorting tickets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883333"/>
                </a:solidFill>
                <a:latin typeface="Segoe UI"/>
              </a:defRPr>
            </a:pPr>
            <a:r>
              <a:t>✗  Context-switch between 5 tools during incidents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883333"/>
                </a:solidFill>
                <a:latin typeface="Segoe UI"/>
              </a:defRPr>
            </a:pPr>
            <a:r>
              <a:t>✗  Knowledge locked in senior engineers' heads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883333"/>
                </a:solidFill>
                <a:latin typeface="Segoe UI"/>
              </a:defRPr>
            </a:pPr>
            <a:r>
              <a:t>✗  Same diagnostic steps, error-prone at 3am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883333"/>
                </a:solidFill>
                <a:latin typeface="Segoe UI"/>
              </a:defRPr>
            </a:pPr>
            <a:r>
              <a:t>✗  Customers wait days for issue acknowledgment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7C10"/>
                </a:solidFill>
                <a:latin typeface="Segoe UI"/>
              </a:defRPr>
            </a:pPr>
            <a: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1400"/>
              </a:spcBef>
              <a:defRPr sz="1500" b="0">
                <a:solidFill>
                  <a:srgbClr val="1B5E20"/>
                </a:solidFill>
                <a:latin typeface="Segoe UI"/>
              </a:defRPr>
            </a:pPr>
            <a:r>
              <a:t>✓  Issues triaged before anyone logs in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1B5E20"/>
                </a:solidFill>
                <a:latin typeface="Segoe UI"/>
              </a:defRPr>
            </a:pPr>
            <a:r>
              <a:t>✓  Investigations completed with evidence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1B5E20"/>
                </a:solidFill>
                <a:latin typeface="Segoe UI"/>
              </a:defRPr>
            </a:pPr>
            <a:r>
              <a:t>✓  Runbooks executed consistently, 24/7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1B5E20"/>
                </a:solidFill>
                <a:latin typeface="Segoe UI"/>
              </a:defRPr>
            </a:pPr>
            <a:r>
              <a:t>✓  Engineers focus on solving, not gathering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1B5E20"/>
                </a:solidFill>
                <a:latin typeface="Segoe UI"/>
              </a:defRPr>
            </a:pPr>
            <a:r>
              <a:t>✓  Customers get instant acknowledgment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017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Segoe UI"/>
              </a:defRPr>
            </a:pPr>
            <a:r>
              <a:t>"The best incident response is the one you sleep through."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sre.azure.com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Let's 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CCEE"/>
                </a:solidFill>
                <a:latin typeface="Segoe UI"/>
              </a:defRPr>
            </a:pPr>
            <a:r>
              <a:t>Open your lab instructions and follow along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egoe UI"/>
              </a:defRPr>
            </a:pPr>
          </a:p>
          <a:p>
            <a:pPr algn="ctr">
              <a:spcBef>
                <a:spcPts val="1200"/>
              </a:spcBef>
              <a:defRPr sz="1800" b="0">
                <a:solidFill>
                  <a:srgbClr val="88CCFF"/>
                </a:solidFill>
                <a:latin typeface="Segoe UI"/>
              </a:defRPr>
            </a:pPr>
            <a:r>
              <a:t>Portal:  sre.azure.com</a:t>
            </a:r>
          </a:p>
          <a:p>
            <a:pPr algn="ctr">
              <a:spcBef>
                <a:spcPts val="1200"/>
              </a:spcBef>
              <a:defRPr sz="1800" b="0">
                <a:solidFill>
                  <a:srgbClr val="88CCFF"/>
                </a:solidFill>
                <a:latin typeface="Segoe UI"/>
              </a:defRPr>
            </a:pPr>
            <a:r>
              <a:t>Docs:  sre.azure.com/docs</a:t>
            </a:r>
          </a:p>
          <a:p>
            <a:pPr algn="ctr">
              <a:spcBef>
                <a:spcPts val="1200"/>
              </a:spcBef>
              <a:defRPr sz="1800" b="0">
                <a:solidFill>
                  <a:srgbClr val="88CCFF"/>
                </a:solidFill>
                <a:latin typeface="Segoe UI"/>
              </a:defRPr>
            </a:pPr>
            <a:r>
              <a:t>Lab Repo:  github.com/dm-chelupati/sre-agent-lab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1600"/>
              </a:spcBef>
              <a:defRPr sz="1800" b="1">
                <a:solidFill>
                  <a:srgbClr val="0B1D3A"/>
                </a:solidFill>
                <a:latin typeface="Segoe UI"/>
              </a:defRPr>
            </a:pPr>
            <a:r>
              <a:t>SRE Agent Portal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0078D4"/>
                </a:solidFill>
                <a:latin typeface="Segoe UI"/>
              </a:defRPr>
            </a:pPr>
            <a:r>
              <a:t>  sre.azure.com</a:t>
            </a:r>
          </a:p>
          <a:p>
            <a:pPr algn="l">
              <a:spcBef>
                <a:spcPts val="1600"/>
              </a:spcBef>
              <a:defRPr sz="1800" b="1">
                <a:solidFill>
                  <a:srgbClr val="0B1D3A"/>
                </a:solidFill>
                <a:latin typeface="Segoe UI"/>
              </a:defRPr>
            </a:pPr>
            <a:r>
              <a:t>Documentation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0078D4"/>
                </a:solidFill>
                <a:latin typeface="Segoe UI"/>
              </a:defRPr>
            </a:pPr>
            <a:r>
              <a:t>  sre.azure.com/docs</a:t>
            </a:r>
          </a:p>
          <a:p>
            <a:pPr algn="l">
              <a:spcBef>
                <a:spcPts val="1600"/>
              </a:spcBef>
              <a:defRPr sz="1800" b="1">
                <a:solidFill>
                  <a:srgbClr val="0B1D3A"/>
                </a:solidFill>
                <a:latin typeface="Segoe UI"/>
              </a:defRPr>
            </a:pPr>
            <a:r>
              <a:t>Lab Repository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0078D4"/>
                </a:solidFill>
                <a:latin typeface="Segoe UI"/>
              </a:defRPr>
            </a:pPr>
            <a:r>
              <a:t>  github.com/dm-chelupati/sre-agent-lab</a:t>
            </a:r>
          </a:p>
          <a:p>
            <a:pPr algn="l">
              <a:spcBef>
                <a:spcPts val="1600"/>
              </a:spcBef>
              <a:defRPr sz="1800" b="1">
                <a:solidFill>
                  <a:srgbClr val="0B1D3A"/>
                </a:solidFill>
                <a:latin typeface="Segoe UI"/>
              </a:defRPr>
            </a:pPr>
            <a:r>
              <a:t>Blog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0078D4"/>
                </a:solidFill>
                <a:latin typeface="Segoe UI"/>
              </a:defRPr>
            </a:pPr>
            <a:r>
              <a:t>  aka.ms/sreagent/blog</a:t>
            </a:r>
          </a:p>
          <a:p>
            <a:pPr algn="l">
              <a:spcBef>
                <a:spcPts val="1600"/>
              </a:spcBef>
              <a:defRPr sz="1800" b="1">
                <a:solidFill>
                  <a:srgbClr val="0B1D3A"/>
                </a:solidFill>
                <a:latin typeface="Segoe UI"/>
              </a:defRPr>
            </a:pPr>
            <a:r>
              <a:t>Samples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0078D4"/>
                </a:solidFill>
                <a:latin typeface="Segoe UI"/>
              </a:defRPr>
            </a:pPr>
            <a:r>
              <a:t>  github.com/microsoft/sre-agent/tree/main/samples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Segoe UI"/>
              </a:defRPr>
            </a:pPr>
            <a:r>
              <a:t>Blog posts to read after the lab: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6B6B6B"/>
                </a:solidFill>
                <a:latin typeface="Segoe UI"/>
              </a:defRPr>
            </a:pPr>
            <a:r>
              <a:t>• Stop Running Runbooks at 3am — aka.ms/sreagent/blog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B6B6B"/>
                </a:solidFill>
                <a:latin typeface="Segoe UI"/>
              </a:defRPr>
            </a:pPr>
            <a:r>
              <a:t>• Build an Agentic Workflow to Triage Customer Issues — aka.ms/sreagent/blog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Segoe UI"/>
              </a:defRPr>
            </a:pPr>
            <a:r>
              <a:t>sre.azure.com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